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27360563" cy="385206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21" d="100"/>
          <a:sy n="21" d="100"/>
        </p:scale>
        <p:origin x="359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2042" y="6304199"/>
            <a:ext cx="23256479" cy="13410906"/>
          </a:xfrm>
        </p:spPr>
        <p:txBody>
          <a:bodyPr anchor="b"/>
          <a:lstStyle>
            <a:lvl1pPr algn="ctr">
              <a:defRPr sz="179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0071" y="20232281"/>
            <a:ext cx="20520422" cy="9300247"/>
          </a:xfrm>
        </p:spPr>
        <p:txBody>
          <a:bodyPr/>
          <a:lstStyle>
            <a:lvl1pPr marL="0" indent="0" algn="ctr">
              <a:buNone/>
              <a:defRPr sz="7181"/>
            </a:lvl1pPr>
            <a:lvl2pPr marL="1368034" indent="0" algn="ctr">
              <a:buNone/>
              <a:defRPr sz="5984"/>
            </a:lvl2pPr>
            <a:lvl3pPr marL="2736068" indent="0" algn="ctr">
              <a:buNone/>
              <a:defRPr sz="5386"/>
            </a:lvl3pPr>
            <a:lvl4pPr marL="4104102" indent="0" algn="ctr">
              <a:buNone/>
              <a:defRPr sz="4788"/>
            </a:lvl4pPr>
            <a:lvl5pPr marL="5472135" indent="0" algn="ctr">
              <a:buNone/>
              <a:defRPr sz="4788"/>
            </a:lvl5pPr>
            <a:lvl6pPr marL="6840169" indent="0" algn="ctr">
              <a:buNone/>
              <a:defRPr sz="4788"/>
            </a:lvl6pPr>
            <a:lvl7pPr marL="8208203" indent="0" algn="ctr">
              <a:buNone/>
              <a:defRPr sz="4788"/>
            </a:lvl7pPr>
            <a:lvl8pPr marL="9576237" indent="0" algn="ctr">
              <a:buNone/>
              <a:defRPr sz="4788"/>
            </a:lvl8pPr>
            <a:lvl9pPr marL="10944271" indent="0" algn="ctr">
              <a:buNone/>
              <a:defRPr sz="478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F7F9-0CC2-5045-B108-C2D731B55DEE}" type="datetimeFigureOut">
              <a:rPr lang="en-US" smtClean="0"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60AD-9938-6142-B909-641A7A4EA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14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F7F9-0CC2-5045-B108-C2D731B55DEE}" type="datetimeFigureOut">
              <a:rPr lang="en-US" smtClean="0"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60AD-9938-6142-B909-641A7A4EA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247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790" y="9603433"/>
            <a:ext cx="23598486" cy="16023533"/>
          </a:xfrm>
        </p:spPr>
        <p:txBody>
          <a:bodyPr anchor="b"/>
          <a:lstStyle>
            <a:lvl1pPr>
              <a:defRPr sz="179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6790" y="25778555"/>
            <a:ext cx="23598486" cy="8426398"/>
          </a:xfrm>
        </p:spPr>
        <p:txBody>
          <a:bodyPr/>
          <a:lstStyle>
            <a:lvl1pPr marL="0" indent="0">
              <a:buNone/>
              <a:defRPr sz="7181">
                <a:solidFill>
                  <a:schemeClr val="tx1"/>
                </a:solidFill>
              </a:defRPr>
            </a:lvl1pPr>
            <a:lvl2pPr marL="1368034" indent="0">
              <a:buNone/>
              <a:defRPr sz="5984">
                <a:solidFill>
                  <a:schemeClr val="tx1">
                    <a:tint val="75000"/>
                  </a:schemeClr>
                </a:solidFill>
              </a:defRPr>
            </a:lvl2pPr>
            <a:lvl3pPr marL="2736068" indent="0">
              <a:buNone/>
              <a:defRPr sz="5386">
                <a:solidFill>
                  <a:schemeClr val="tx1">
                    <a:tint val="75000"/>
                  </a:schemeClr>
                </a:solidFill>
              </a:defRPr>
            </a:lvl3pPr>
            <a:lvl4pPr marL="4104102" indent="0">
              <a:buNone/>
              <a:defRPr sz="4788">
                <a:solidFill>
                  <a:schemeClr val="tx1">
                    <a:tint val="75000"/>
                  </a:schemeClr>
                </a:solidFill>
              </a:defRPr>
            </a:lvl4pPr>
            <a:lvl5pPr marL="5472135" indent="0">
              <a:buNone/>
              <a:defRPr sz="4788">
                <a:solidFill>
                  <a:schemeClr val="tx1">
                    <a:tint val="75000"/>
                  </a:schemeClr>
                </a:solidFill>
              </a:defRPr>
            </a:lvl5pPr>
            <a:lvl6pPr marL="6840169" indent="0">
              <a:buNone/>
              <a:defRPr sz="4788">
                <a:solidFill>
                  <a:schemeClr val="tx1">
                    <a:tint val="75000"/>
                  </a:schemeClr>
                </a:solidFill>
              </a:defRPr>
            </a:lvl6pPr>
            <a:lvl7pPr marL="8208203" indent="0">
              <a:buNone/>
              <a:defRPr sz="4788">
                <a:solidFill>
                  <a:schemeClr val="tx1">
                    <a:tint val="75000"/>
                  </a:schemeClr>
                </a:solidFill>
              </a:defRPr>
            </a:lvl7pPr>
            <a:lvl8pPr marL="9576237" indent="0">
              <a:buNone/>
              <a:defRPr sz="4788">
                <a:solidFill>
                  <a:schemeClr val="tx1">
                    <a:tint val="75000"/>
                  </a:schemeClr>
                </a:solidFill>
              </a:defRPr>
            </a:lvl8pPr>
            <a:lvl9pPr marL="10944271" indent="0">
              <a:buNone/>
              <a:defRPr sz="4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F7F9-0CC2-5045-B108-C2D731B55DEE}" type="datetimeFigureOut">
              <a:rPr lang="en-US" smtClean="0"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60AD-9938-6142-B909-641A7A4EA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27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1039" y="10254350"/>
            <a:ext cx="11628239" cy="24441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51285" y="10254350"/>
            <a:ext cx="11628239" cy="24441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F7F9-0CC2-5045-B108-C2D731B55DEE}" type="datetimeFigureOut">
              <a:rPr lang="en-US" smtClean="0"/>
              <a:t>8/3/25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60AD-9938-6142-B909-641A7A4EA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86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602" y="2050879"/>
            <a:ext cx="23598486" cy="74455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4605" y="9442921"/>
            <a:ext cx="11574799" cy="4627830"/>
          </a:xfrm>
        </p:spPr>
        <p:txBody>
          <a:bodyPr anchor="b"/>
          <a:lstStyle>
            <a:lvl1pPr marL="0" indent="0">
              <a:buNone/>
              <a:defRPr sz="7181" b="1"/>
            </a:lvl1pPr>
            <a:lvl2pPr marL="1368034" indent="0">
              <a:buNone/>
              <a:defRPr sz="5984" b="1"/>
            </a:lvl2pPr>
            <a:lvl3pPr marL="2736068" indent="0">
              <a:buNone/>
              <a:defRPr sz="5386" b="1"/>
            </a:lvl3pPr>
            <a:lvl4pPr marL="4104102" indent="0">
              <a:buNone/>
              <a:defRPr sz="4788" b="1"/>
            </a:lvl4pPr>
            <a:lvl5pPr marL="5472135" indent="0">
              <a:buNone/>
              <a:defRPr sz="4788" b="1"/>
            </a:lvl5pPr>
            <a:lvl6pPr marL="6840169" indent="0">
              <a:buNone/>
              <a:defRPr sz="4788" b="1"/>
            </a:lvl6pPr>
            <a:lvl7pPr marL="8208203" indent="0">
              <a:buNone/>
              <a:defRPr sz="4788" b="1"/>
            </a:lvl7pPr>
            <a:lvl8pPr marL="9576237" indent="0">
              <a:buNone/>
              <a:defRPr sz="4788" b="1"/>
            </a:lvl8pPr>
            <a:lvl9pPr marL="10944271" indent="0">
              <a:buNone/>
              <a:defRPr sz="47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4605" y="14070751"/>
            <a:ext cx="11574799" cy="20695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51287" y="9442921"/>
            <a:ext cx="11631803" cy="4627830"/>
          </a:xfrm>
        </p:spPr>
        <p:txBody>
          <a:bodyPr anchor="b"/>
          <a:lstStyle>
            <a:lvl1pPr marL="0" indent="0">
              <a:buNone/>
              <a:defRPr sz="7181" b="1"/>
            </a:lvl1pPr>
            <a:lvl2pPr marL="1368034" indent="0">
              <a:buNone/>
              <a:defRPr sz="5984" b="1"/>
            </a:lvl2pPr>
            <a:lvl3pPr marL="2736068" indent="0">
              <a:buNone/>
              <a:defRPr sz="5386" b="1"/>
            </a:lvl3pPr>
            <a:lvl4pPr marL="4104102" indent="0">
              <a:buNone/>
              <a:defRPr sz="4788" b="1"/>
            </a:lvl4pPr>
            <a:lvl5pPr marL="5472135" indent="0">
              <a:buNone/>
              <a:defRPr sz="4788" b="1"/>
            </a:lvl5pPr>
            <a:lvl6pPr marL="6840169" indent="0">
              <a:buNone/>
              <a:defRPr sz="4788" b="1"/>
            </a:lvl6pPr>
            <a:lvl7pPr marL="8208203" indent="0">
              <a:buNone/>
              <a:defRPr sz="4788" b="1"/>
            </a:lvl7pPr>
            <a:lvl8pPr marL="9576237" indent="0">
              <a:buNone/>
              <a:defRPr sz="4788" b="1"/>
            </a:lvl8pPr>
            <a:lvl9pPr marL="10944271" indent="0">
              <a:buNone/>
              <a:defRPr sz="47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51287" y="14070751"/>
            <a:ext cx="11631803" cy="20695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F7F9-0CC2-5045-B108-C2D731B55DEE}" type="datetimeFigureOut">
              <a:rPr lang="en-US" smtClean="0"/>
              <a:t>8/3/25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60AD-9938-6142-B909-641A7A4EA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52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F7F9-0CC2-5045-B108-C2D731B55DEE}" type="datetimeFigureOut">
              <a:rPr lang="en-US" smtClean="0"/>
              <a:t>8/3/25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60AD-9938-6142-B909-641A7A4EA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97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F7F9-0CC2-5045-B108-C2D731B55DEE}" type="datetimeFigureOut">
              <a:rPr lang="en-US" smtClean="0"/>
              <a:t>8/3/25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60AD-9938-6142-B909-641A7A4EA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45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602" y="2568046"/>
            <a:ext cx="8824494" cy="8988161"/>
          </a:xfrm>
        </p:spPr>
        <p:txBody>
          <a:bodyPr anchor="b"/>
          <a:lstStyle>
            <a:lvl1pPr>
              <a:defRPr sz="9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31803" y="5546274"/>
            <a:ext cx="13851285" cy="27374656"/>
          </a:xfrm>
        </p:spPr>
        <p:txBody>
          <a:bodyPr/>
          <a:lstStyle>
            <a:lvl1pPr>
              <a:defRPr sz="9575"/>
            </a:lvl1pPr>
            <a:lvl2pPr>
              <a:defRPr sz="8378"/>
            </a:lvl2pPr>
            <a:lvl3pPr>
              <a:defRPr sz="7181"/>
            </a:lvl3pPr>
            <a:lvl4pPr>
              <a:defRPr sz="5984"/>
            </a:lvl4pPr>
            <a:lvl5pPr>
              <a:defRPr sz="5984"/>
            </a:lvl5pPr>
            <a:lvl6pPr>
              <a:defRPr sz="5984"/>
            </a:lvl6pPr>
            <a:lvl7pPr>
              <a:defRPr sz="5984"/>
            </a:lvl7pPr>
            <a:lvl8pPr>
              <a:defRPr sz="5984"/>
            </a:lvl8pPr>
            <a:lvl9pPr>
              <a:defRPr sz="598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4602" y="11556206"/>
            <a:ext cx="8824494" cy="21409302"/>
          </a:xfrm>
        </p:spPr>
        <p:txBody>
          <a:bodyPr/>
          <a:lstStyle>
            <a:lvl1pPr marL="0" indent="0">
              <a:buNone/>
              <a:defRPr sz="4788"/>
            </a:lvl1pPr>
            <a:lvl2pPr marL="1368034" indent="0">
              <a:buNone/>
              <a:defRPr sz="4189"/>
            </a:lvl2pPr>
            <a:lvl3pPr marL="2736068" indent="0">
              <a:buNone/>
              <a:defRPr sz="3591"/>
            </a:lvl3pPr>
            <a:lvl4pPr marL="4104102" indent="0">
              <a:buNone/>
              <a:defRPr sz="2992"/>
            </a:lvl4pPr>
            <a:lvl5pPr marL="5472135" indent="0">
              <a:buNone/>
              <a:defRPr sz="2992"/>
            </a:lvl5pPr>
            <a:lvl6pPr marL="6840169" indent="0">
              <a:buNone/>
              <a:defRPr sz="2992"/>
            </a:lvl6pPr>
            <a:lvl7pPr marL="8208203" indent="0">
              <a:buNone/>
              <a:defRPr sz="2992"/>
            </a:lvl7pPr>
            <a:lvl8pPr marL="9576237" indent="0">
              <a:buNone/>
              <a:defRPr sz="2992"/>
            </a:lvl8pPr>
            <a:lvl9pPr marL="10944271" indent="0">
              <a:buNone/>
              <a:defRPr sz="2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F7F9-0CC2-5045-B108-C2D731B55DEE}" type="datetimeFigureOut">
              <a:rPr lang="en-US" smtClean="0"/>
              <a:t>8/3/25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60AD-9938-6142-B909-641A7A4EA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48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602" y="2568046"/>
            <a:ext cx="8824494" cy="8988161"/>
          </a:xfrm>
        </p:spPr>
        <p:txBody>
          <a:bodyPr anchor="b"/>
          <a:lstStyle>
            <a:lvl1pPr>
              <a:defRPr sz="9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31803" y="5546274"/>
            <a:ext cx="13851285" cy="27374656"/>
          </a:xfrm>
        </p:spPr>
        <p:txBody>
          <a:bodyPr anchor="t"/>
          <a:lstStyle>
            <a:lvl1pPr marL="0" indent="0">
              <a:buNone/>
              <a:defRPr sz="9575"/>
            </a:lvl1pPr>
            <a:lvl2pPr marL="1368034" indent="0">
              <a:buNone/>
              <a:defRPr sz="8378"/>
            </a:lvl2pPr>
            <a:lvl3pPr marL="2736068" indent="0">
              <a:buNone/>
              <a:defRPr sz="7181"/>
            </a:lvl3pPr>
            <a:lvl4pPr marL="4104102" indent="0">
              <a:buNone/>
              <a:defRPr sz="5984"/>
            </a:lvl4pPr>
            <a:lvl5pPr marL="5472135" indent="0">
              <a:buNone/>
              <a:defRPr sz="5984"/>
            </a:lvl5pPr>
            <a:lvl6pPr marL="6840169" indent="0">
              <a:buNone/>
              <a:defRPr sz="5984"/>
            </a:lvl6pPr>
            <a:lvl7pPr marL="8208203" indent="0">
              <a:buNone/>
              <a:defRPr sz="5984"/>
            </a:lvl7pPr>
            <a:lvl8pPr marL="9576237" indent="0">
              <a:buNone/>
              <a:defRPr sz="5984"/>
            </a:lvl8pPr>
            <a:lvl9pPr marL="10944271" indent="0">
              <a:buNone/>
              <a:defRPr sz="598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4602" y="11556206"/>
            <a:ext cx="8824494" cy="21409302"/>
          </a:xfrm>
        </p:spPr>
        <p:txBody>
          <a:bodyPr/>
          <a:lstStyle>
            <a:lvl1pPr marL="0" indent="0">
              <a:buNone/>
              <a:defRPr sz="4788"/>
            </a:lvl1pPr>
            <a:lvl2pPr marL="1368034" indent="0">
              <a:buNone/>
              <a:defRPr sz="4189"/>
            </a:lvl2pPr>
            <a:lvl3pPr marL="2736068" indent="0">
              <a:buNone/>
              <a:defRPr sz="3591"/>
            </a:lvl3pPr>
            <a:lvl4pPr marL="4104102" indent="0">
              <a:buNone/>
              <a:defRPr sz="2992"/>
            </a:lvl4pPr>
            <a:lvl5pPr marL="5472135" indent="0">
              <a:buNone/>
              <a:defRPr sz="2992"/>
            </a:lvl5pPr>
            <a:lvl6pPr marL="6840169" indent="0">
              <a:buNone/>
              <a:defRPr sz="2992"/>
            </a:lvl6pPr>
            <a:lvl7pPr marL="8208203" indent="0">
              <a:buNone/>
              <a:defRPr sz="2992"/>
            </a:lvl7pPr>
            <a:lvl8pPr marL="9576237" indent="0">
              <a:buNone/>
              <a:defRPr sz="2992"/>
            </a:lvl8pPr>
            <a:lvl9pPr marL="10944271" indent="0">
              <a:buNone/>
              <a:defRPr sz="2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F7F9-0CC2-5045-B108-C2D731B55DEE}" type="datetimeFigureOut">
              <a:rPr lang="en-US" smtClean="0"/>
              <a:t>8/3/25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60AD-9938-6142-B909-641A7A4EA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91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F7F9-0CC2-5045-B108-C2D731B55DEE}" type="datetimeFigureOut">
              <a:rPr lang="en-US" smtClean="0"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60AD-9938-6142-B909-641A7A4EA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45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579905" y="2050870"/>
            <a:ext cx="5899621" cy="326445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1040" y="2050870"/>
            <a:ext cx="17356857" cy="326445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F7F9-0CC2-5045-B108-C2D731B55DEE}" type="datetimeFigureOut">
              <a:rPr lang="en-US" smtClean="0"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060AD-9938-6142-B909-641A7A4EA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21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1039" y="2050879"/>
            <a:ext cx="23598486" cy="7445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1039" y="10254350"/>
            <a:ext cx="23598486" cy="24441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1039" y="35702979"/>
            <a:ext cx="6156127" cy="20508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FF7F9-0CC2-5045-B108-C2D731B55DEE}" type="datetimeFigureOut">
              <a:rPr lang="en-US" smtClean="0"/>
              <a:t>8/3/25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63187" y="35702979"/>
            <a:ext cx="9234190" cy="20508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23397" y="35702979"/>
            <a:ext cx="6156127" cy="20508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060AD-9938-6142-B909-641A7A4EA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91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36068" rtl="0" eaLnBrk="1" latinLnBrk="0" hangingPunct="1">
        <a:lnSpc>
          <a:spcPct val="90000"/>
        </a:lnSpc>
        <a:spcBef>
          <a:spcPct val="0"/>
        </a:spcBef>
        <a:buNone/>
        <a:defRPr sz="131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4017" indent="-684017" algn="l" defTabSz="2736068" rtl="0" eaLnBrk="1" latinLnBrk="0" hangingPunct="1">
        <a:lnSpc>
          <a:spcPct val="90000"/>
        </a:lnSpc>
        <a:spcBef>
          <a:spcPts val="2992"/>
        </a:spcBef>
        <a:buFont typeface="Arial" panose="020B0604020202020204" pitchFamily="34" charset="0"/>
        <a:buChar char="•"/>
        <a:defRPr sz="8378" kern="1200">
          <a:solidFill>
            <a:schemeClr val="tx1"/>
          </a:solidFill>
          <a:latin typeface="+mn-lt"/>
          <a:ea typeface="+mn-ea"/>
          <a:cs typeface="+mn-cs"/>
        </a:defRPr>
      </a:lvl1pPr>
      <a:lvl2pPr marL="2052051" indent="-684017" algn="l" defTabSz="2736068" rtl="0" eaLnBrk="1" latinLnBrk="0" hangingPunct="1">
        <a:lnSpc>
          <a:spcPct val="90000"/>
        </a:lnSpc>
        <a:spcBef>
          <a:spcPts val="1496"/>
        </a:spcBef>
        <a:buFont typeface="Arial" panose="020B0604020202020204" pitchFamily="34" charset="0"/>
        <a:buChar char="•"/>
        <a:defRPr sz="7181" kern="1200">
          <a:solidFill>
            <a:schemeClr val="tx1"/>
          </a:solidFill>
          <a:latin typeface="+mn-lt"/>
          <a:ea typeface="+mn-ea"/>
          <a:cs typeface="+mn-cs"/>
        </a:defRPr>
      </a:lvl2pPr>
      <a:lvl3pPr marL="3420085" indent="-684017" algn="l" defTabSz="2736068" rtl="0" eaLnBrk="1" latinLnBrk="0" hangingPunct="1">
        <a:lnSpc>
          <a:spcPct val="90000"/>
        </a:lnSpc>
        <a:spcBef>
          <a:spcPts val="1496"/>
        </a:spcBef>
        <a:buFont typeface="Arial" panose="020B0604020202020204" pitchFamily="34" charset="0"/>
        <a:buChar char="•"/>
        <a:defRPr sz="5984" kern="1200">
          <a:solidFill>
            <a:schemeClr val="tx1"/>
          </a:solidFill>
          <a:latin typeface="+mn-lt"/>
          <a:ea typeface="+mn-ea"/>
          <a:cs typeface="+mn-cs"/>
        </a:defRPr>
      </a:lvl3pPr>
      <a:lvl4pPr marL="4788118" indent="-684017" algn="l" defTabSz="2736068" rtl="0" eaLnBrk="1" latinLnBrk="0" hangingPunct="1">
        <a:lnSpc>
          <a:spcPct val="90000"/>
        </a:lnSpc>
        <a:spcBef>
          <a:spcPts val="1496"/>
        </a:spcBef>
        <a:buFont typeface="Arial" panose="020B0604020202020204" pitchFamily="34" charset="0"/>
        <a:buChar char="•"/>
        <a:defRPr sz="5386" kern="1200">
          <a:solidFill>
            <a:schemeClr val="tx1"/>
          </a:solidFill>
          <a:latin typeface="+mn-lt"/>
          <a:ea typeface="+mn-ea"/>
          <a:cs typeface="+mn-cs"/>
        </a:defRPr>
      </a:lvl4pPr>
      <a:lvl5pPr marL="6156152" indent="-684017" algn="l" defTabSz="2736068" rtl="0" eaLnBrk="1" latinLnBrk="0" hangingPunct="1">
        <a:lnSpc>
          <a:spcPct val="90000"/>
        </a:lnSpc>
        <a:spcBef>
          <a:spcPts val="1496"/>
        </a:spcBef>
        <a:buFont typeface="Arial" panose="020B0604020202020204" pitchFamily="34" charset="0"/>
        <a:buChar char="•"/>
        <a:defRPr sz="5386" kern="1200">
          <a:solidFill>
            <a:schemeClr val="tx1"/>
          </a:solidFill>
          <a:latin typeface="+mn-lt"/>
          <a:ea typeface="+mn-ea"/>
          <a:cs typeface="+mn-cs"/>
        </a:defRPr>
      </a:lvl5pPr>
      <a:lvl6pPr marL="7524186" indent="-684017" algn="l" defTabSz="2736068" rtl="0" eaLnBrk="1" latinLnBrk="0" hangingPunct="1">
        <a:lnSpc>
          <a:spcPct val="90000"/>
        </a:lnSpc>
        <a:spcBef>
          <a:spcPts val="1496"/>
        </a:spcBef>
        <a:buFont typeface="Arial" panose="020B0604020202020204" pitchFamily="34" charset="0"/>
        <a:buChar char="•"/>
        <a:defRPr sz="5386" kern="1200">
          <a:solidFill>
            <a:schemeClr val="tx1"/>
          </a:solidFill>
          <a:latin typeface="+mn-lt"/>
          <a:ea typeface="+mn-ea"/>
          <a:cs typeface="+mn-cs"/>
        </a:defRPr>
      </a:lvl6pPr>
      <a:lvl7pPr marL="8892220" indent="-684017" algn="l" defTabSz="2736068" rtl="0" eaLnBrk="1" latinLnBrk="0" hangingPunct="1">
        <a:lnSpc>
          <a:spcPct val="90000"/>
        </a:lnSpc>
        <a:spcBef>
          <a:spcPts val="1496"/>
        </a:spcBef>
        <a:buFont typeface="Arial" panose="020B0604020202020204" pitchFamily="34" charset="0"/>
        <a:buChar char="•"/>
        <a:defRPr sz="5386" kern="1200">
          <a:solidFill>
            <a:schemeClr val="tx1"/>
          </a:solidFill>
          <a:latin typeface="+mn-lt"/>
          <a:ea typeface="+mn-ea"/>
          <a:cs typeface="+mn-cs"/>
        </a:defRPr>
      </a:lvl7pPr>
      <a:lvl8pPr marL="10260254" indent="-684017" algn="l" defTabSz="2736068" rtl="0" eaLnBrk="1" latinLnBrk="0" hangingPunct="1">
        <a:lnSpc>
          <a:spcPct val="90000"/>
        </a:lnSpc>
        <a:spcBef>
          <a:spcPts val="1496"/>
        </a:spcBef>
        <a:buFont typeface="Arial" panose="020B0604020202020204" pitchFamily="34" charset="0"/>
        <a:buChar char="•"/>
        <a:defRPr sz="5386" kern="1200">
          <a:solidFill>
            <a:schemeClr val="tx1"/>
          </a:solidFill>
          <a:latin typeface="+mn-lt"/>
          <a:ea typeface="+mn-ea"/>
          <a:cs typeface="+mn-cs"/>
        </a:defRPr>
      </a:lvl8pPr>
      <a:lvl9pPr marL="11628288" indent="-684017" algn="l" defTabSz="2736068" rtl="0" eaLnBrk="1" latinLnBrk="0" hangingPunct="1">
        <a:lnSpc>
          <a:spcPct val="90000"/>
        </a:lnSpc>
        <a:spcBef>
          <a:spcPts val="1496"/>
        </a:spcBef>
        <a:buFont typeface="Arial" panose="020B0604020202020204" pitchFamily="34" charset="0"/>
        <a:buChar char="•"/>
        <a:defRPr sz="53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36068" rtl="0" eaLnBrk="1" latinLnBrk="0" hangingPunct="1">
        <a:defRPr sz="5386" kern="1200">
          <a:solidFill>
            <a:schemeClr val="tx1"/>
          </a:solidFill>
          <a:latin typeface="+mn-lt"/>
          <a:ea typeface="+mn-ea"/>
          <a:cs typeface="+mn-cs"/>
        </a:defRPr>
      </a:lvl1pPr>
      <a:lvl2pPr marL="1368034" algn="l" defTabSz="2736068" rtl="0" eaLnBrk="1" latinLnBrk="0" hangingPunct="1">
        <a:defRPr sz="5386" kern="1200">
          <a:solidFill>
            <a:schemeClr val="tx1"/>
          </a:solidFill>
          <a:latin typeface="+mn-lt"/>
          <a:ea typeface="+mn-ea"/>
          <a:cs typeface="+mn-cs"/>
        </a:defRPr>
      </a:lvl2pPr>
      <a:lvl3pPr marL="2736068" algn="l" defTabSz="2736068" rtl="0" eaLnBrk="1" latinLnBrk="0" hangingPunct="1">
        <a:defRPr sz="5386" kern="1200">
          <a:solidFill>
            <a:schemeClr val="tx1"/>
          </a:solidFill>
          <a:latin typeface="+mn-lt"/>
          <a:ea typeface="+mn-ea"/>
          <a:cs typeface="+mn-cs"/>
        </a:defRPr>
      </a:lvl3pPr>
      <a:lvl4pPr marL="4104102" algn="l" defTabSz="2736068" rtl="0" eaLnBrk="1" latinLnBrk="0" hangingPunct="1">
        <a:defRPr sz="5386" kern="1200">
          <a:solidFill>
            <a:schemeClr val="tx1"/>
          </a:solidFill>
          <a:latin typeface="+mn-lt"/>
          <a:ea typeface="+mn-ea"/>
          <a:cs typeface="+mn-cs"/>
        </a:defRPr>
      </a:lvl4pPr>
      <a:lvl5pPr marL="5472135" algn="l" defTabSz="2736068" rtl="0" eaLnBrk="1" latinLnBrk="0" hangingPunct="1">
        <a:defRPr sz="5386" kern="1200">
          <a:solidFill>
            <a:schemeClr val="tx1"/>
          </a:solidFill>
          <a:latin typeface="+mn-lt"/>
          <a:ea typeface="+mn-ea"/>
          <a:cs typeface="+mn-cs"/>
        </a:defRPr>
      </a:lvl5pPr>
      <a:lvl6pPr marL="6840169" algn="l" defTabSz="2736068" rtl="0" eaLnBrk="1" latinLnBrk="0" hangingPunct="1">
        <a:defRPr sz="5386" kern="1200">
          <a:solidFill>
            <a:schemeClr val="tx1"/>
          </a:solidFill>
          <a:latin typeface="+mn-lt"/>
          <a:ea typeface="+mn-ea"/>
          <a:cs typeface="+mn-cs"/>
        </a:defRPr>
      </a:lvl6pPr>
      <a:lvl7pPr marL="8208203" algn="l" defTabSz="2736068" rtl="0" eaLnBrk="1" latinLnBrk="0" hangingPunct="1">
        <a:defRPr sz="5386" kern="1200">
          <a:solidFill>
            <a:schemeClr val="tx1"/>
          </a:solidFill>
          <a:latin typeface="+mn-lt"/>
          <a:ea typeface="+mn-ea"/>
          <a:cs typeface="+mn-cs"/>
        </a:defRPr>
      </a:lvl7pPr>
      <a:lvl8pPr marL="9576237" algn="l" defTabSz="2736068" rtl="0" eaLnBrk="1" latinLnBrk="0" hangingPunct="1">
        <a:defRPr sz="5386" kern="1200">
          <a:solidFill>
            <a:schemeClr val="tx1"/>
          </a:solidFill>
          <a:latin typeface="+mn-lt"/>
          <a:ea typeface="+mn-ea"/>
          <a:cs typeface="+mn-cs"/>
        </a:defRPr>
      </a:lvl8pPr>
      <a:lvl9pPr marL="10944271" algn="l" defTabSz="2736068" rtl="0" eaLnBrk="1" latinLnBrk="0" hangingPunct="1">
        <a:defRPr sz="53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180+ Power Outage City Stock Illustrations, Royalty-Free Vector Graphics &amp;  Clip Art - iStock | Hurricane sandy, Lights out, Electricity">
            <a:extLst>
              <a:ext uri="{FF2B5EF4-FFF2-40B4-BE49-F238E27FC236}">
                <a16:creationId xmlns:a16="http://schemas.microsoft.com/office/drawing/2014/main" id="{FCA5DBC1-9308-43C0-6312-D54767ACA4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6" t="22736" r="24071" b="371"/>
          <a:stretch>
            <a:fillRect/>
          </a:stretch>
        </p:blipFill>
        <p:spPr bwMode="auto">
          <a:xfrm>
            <a:off x="-3" y="0"/>
            <a:ext cx="27360565" cy="2597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0623BD6-E90A-281E-9124-A83BBE60B2DE}"/>
              </a:ext>
            </a:extLst>
          </p:cNvPr>
          <p:cNvSpPr/>
          <p:nvPr/>
        </p:nvSpPr>
        <p:spPr>
          <a:xfrm>
            <a:off x="-1" y="25454199"/>
            <a:ext cx="27360564" cy="13066490"/>
          </a:xfrm>
          <a:prstGeom prst="rect">
            <a:avLst/>
          </a:prstGeom>
          <a:solidFill>
            <a:srgbClr val="0C09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023DDF-0458-C0C9-C411-F06C7AD389A1}"/>
              </a:ext>
            </a:extLst>
          </p:cNvPr>
          <p:cNvSpPr/>
          <p:nvPr/>
        </p:nvSpPr>
        <p:spPr>
          <a:xfrm>
            <a:off x="3037801" y="472706"/>
            <a:ext cx="21952639" cy="4277310"/>
          </a:xfrm>
          <a:prstGeom prst="ellipse">
            <a:avLst/>
          </a:prstGeom>
          <a:solidFill>
            <a:srgbClr val="C1CAFF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A0C0B8-97A9-9D58-EF6D-0DF3FDC0A036}"/>
              </a:ext>
            </a:extLst>
          </p:cNvPr>
          <p:cNvSpPr txBox="1"/>
          <p:nvPr/>
        </p:nvSpPr>
        <p:spPr>
          <a:xfrm>
            <a:off x="653044" y="1156687"/>
            <a:ext cx="26488919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E4FFE4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POWER OUTAGE AND CARDIORESPIRATORY HOSPITALIZATIONS AMONG OLDER ADULTS IN THE UNITED STATES</a:t>
            </a:r>
          </a:p>
          <a:p>
            <a:pPr algn="ctr"/>
            <a:r>
              <a:rPr lang="en-US" sz="40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HEATHER MCBRIEN</a:t>
            </a:r>
            <a:r>
              <a:rPr lang="en-US" sz="40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1</a:t>
            </a:r>
            <a:r>
              <a:rPr lang="en-US" sz="40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, DANIEL MORK</a:t>
            </a:r>
            <a:r>
              <a:rPr lang="en-US" sz="40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2</a:t>
            </a:r>
            <a:r>
              <a:rPr lang="en-US" sz="40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, VIVIAN DO</a:t>
            </a:r>
            <a:r>
              <a:rPr lang="en-US" sz="40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1</a:t>
            </a:r>
            <a:r>
              <a:rPr lang="en-US" sz="40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, MARIANTHI-ANNA KIOUMOURTZOGLOU</a:t>
            </a:r>
            <a:r>
              <a:rPr lang="en-US" sz="40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1</a:t>
            </a:r>
            <a:r>
              <a:rPr lang="en-US" sz="40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, </a:t>
            </a:r>
            <a:r>
              <a:rPr lang="en-US" sz="4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AND</a:t>
            </a:r>
            <a:r>
              <a:rPr lang="en-US" sz="4000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 JOAN A. CASEY</a:t>
            </a:r>
            <a:r>
              <a:rPr lang="en-US" sz="4000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3,4</a:t>
            </a:r>
          </a:p>
          <a:p>
            <a:pPr algn="ctr"/>
            <a:r>
              <a:rPr lang="en-US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1</a:t>
            </a:r>
            <a:r>
              <a:rPr lang="en-US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Columbia Mailman School of Public Health </a:t>
            </a:r>
            <a:r>
              <a:rPr lang="en-US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2</a:t>
            </a:r>
            <a:r>
              <a:rPr lang="en-US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 Harvard T.H. Chan School of Public Health </a:t>
            </a:r>
            <a:r>
              <a:rPr lang="en-US" b="1" baseline="30000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3</a:t>
            </a:r>
            <a:r>
              <a:rPr lang="en-US" b="1" dirty="0">
                <a:solidFill>
                  <a:srgbClr val="B2D0F8"/>
                </a:solidFill>
                <a:latin typeface="Franklin Gothic Medium" panose="020B0603020102020204" pitchFamily="34" charset="0"/>
                <a:cs typeface="Aharoni" panose="020F0502020204030204" pitchFamily="34" charset="0"/>
              </a:rPr>
              <a:t> University of Washington School of Public Health</a:t>
            </a:r>
          </a:p>
        </p:txBody>
      </p:sp>
      <p:sp>
        <p:nvSpPr>
          <p:cNvPr id="8" name="Round Diagonal Corner Rectangle 7">
            <a:extLst>
              <a:ext uri="{FF2B5EF4-FFF2-40B4-BE49-F238E27FC236}">
                <a16:creationId xmlns:a16="http://schemas.microsoft.com/office/drawing/2014/main" id="{F45BD587-4030-0FB3-E9A5-890562DF28B5}"/>
              </a:ext>
            </a:extLst>
          </p:cNvPr>
          <p:cNvSpPr/>
          <p:nvPr/>
        </p:nvSpPr>
        <p:spPr>
          <a:xfrm>
            <a:off x="1711440" y="6068152"/>
            <a:ext cx="13899156" cy="5222888"/>
          </a:xfrm>
          <a:prstGeom prst="round2DiagRect">
            <a:avLst/>
          </a:prstGeom>
          <a:solidFill>
            <a:srgbClr val="3A4564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49C452-28E7-DCAE-80F9-2AC53F532347}"/>
              </a:ext>
            </a:extLst>
          </p:cNvPr>
          <p:cNvSpPr txBox="1"/>
          <p:nvPr/>
        </p:nvSpPr>
        <p:spPr>
          <a:xfrm>
            <a:off x="2328079" y="6846565"/>
            <a:ext cx="12453329" cy="3600986"/>
          </a:xfrm>
          <a:prstGeom prst="rect">
            <a:avLst/>
          </a:prstGeom>
          <a:noFill/>
          <a:ln w="76200">
            <a:solidFill>
              <a:schemeClr val="bg1">
                <a:alpha val="51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Power outages are becoming more common </a:t>
            </a: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climate-related severe weather, wildfires, heat, cold, and electrification and grid expansion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Danger to health is underappreciated </a:t>
            </a:r>
            <a:r>
              <a:rPr lang="en-US" sz="40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</a:t>
            </a:r>
            <a:r>
              <a:rPr lang="en-US" sz="4000" dirty="0">
                <a:solidFill>
                  <a:schemeClr val="bg1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40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understudied </a:t>
            </a: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vulnerable groups such as older adults and electricity-dependent medical device users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41C3A4-9E10-886B-B7AE-4E2306D76AD8}"/>
              </a:ext>
            </a:extLst>
          </p:cNvPr>
          <p:cNvSpPr txBox="1"/>
          <p:nvPr/>
        </p:nvSpPr>
        <p:spPr>
          <a:xfrm>
            <a:off x="2349726" y="5491174"/>
            <a:ext cx="54149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E4FFE4"/>
                </a:solidFill>
                <a:latin typeface="Franklin Gothic Medium" panose="020B0603020102020204" pitchFamily="34" charset="0"/>
              </a:rPr>
              <a:t>INTRODUCTION</a:t>
            </a:r>
            <a:endParaRPr lang="en-US" sz="3600" b="1" dirty="0">
              <a:solidFill>
                <a:srgbClr val="E4FFE4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5CC9FEBF-A159-1AB2-F32C-CBEB57B4157C}"/>
              </a:ext>
            </a:extLst>
          </p:cNvPr>
          <p:cNvSpPr/>
          <p:nvPr/>
        </p:nvSpPr>
        <p:spPr>
          <a:xfrm>
            <a:off x="16135204" y="6118715"/>
            <a:ext cx="10065476" cy="5172325"/>
          </a:xfrm>
          <a:prstGeom prst="round2DiagRect">
            <a:avLst/>
          </a:prstGeom>
          <a:solidFill>
            <a:srgbClr val="8BA9F3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7DEC14-5B01-DDF9-35E9-E9E87F458E53}"/>
              </a:ext>
            </a:extLst>
          </p:cNvPr>
          <p:cNvSpPr txBox="1"/>
          <p:nvPr/>
        </p:nvSpPr>
        <p:spPr>
          <a:xfrm>
            <a:off x="16895152" y="6941564"/>
            <a:ext cx="10471079" cy="3416320"/>
          </a:xfrm>
          <a:prstGeom prst="rect">
            <a:avLst/>
          </a:prstGeom>
          <a:noFill/>
          <a:ln w="76200">
            <a:noFill/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 power outages cause cardiorespiratory-related hospitalizations in US older adults 65+?</a:t>
            </a:r>
          </a:p>
        </p:txBody>
      </p:sp>
      <p:sp>
        <p:nvSpPr>
          <p:cNvPr id="13" name="Round Diagonal Corner Rectangle 12">
            <a:extLst>
              <a:ext uri="{FF2B5EF4-FFF2-40B4-BE49-F238E27FC236}">
                <a16:creationId xmlns:a16="http://schemas.microsoft.com/office/drawing/2014/main" id="{F609CF85-36B9-BE09-486B-DFAD8F8F88AA}"/>
              </a:ext>
            </a:extLst>
          </p:cNvPr>
          <p:cNvSpPr/>
          <p:nvPr/>
        </p:nvSpPr>
        <p:spPr>
          <a:xfrm>
            <a:off x="1659162" y="12060704"/>
            <a:ext cx="12520398" cy="9170862"/>
          </a:xfrm>
          <a:prstGeom prst="round2DiagRect">
            <a:avLst/>
          </a:prstGeom>
          <a:solidFill>
            <a:srgbClr val="3A4564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BB2D37-8053-FAED-7224-8BDA4335B9A4}"/>
              </a:ext>
            </a:extLst>
          </p:cNvPr>
          <p:cNvSpPr txBox="1"/>
          <p:nvPr/>
        </p:nvSpPr>
        <p:spPr>
          <a:xfrm>
            <a:off x="2501602" y="12858484"/>
            <a:ext cx="4744460" cy="7478970"/>
          </a:xfrm>
          <a:prstGeom prst="rect">
            <a:avLst/>
          </a:prstGeom>
          <a:noFill/>
          <a:ln w="76200">
            <a:solidFill>
              <a:schemeClr val="bg1">
                <a:alpha val="51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</a:t>
            </a:r>
            <a:r>
              <a:rPr lang="en-US" sz="4000" b="1" dirty="0" err="1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PowerOutages.us</a:t>
            </a:r>
            <a:r>
              <a:rPr lang="en-US" sz="40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Dataset”: New exposure dataset of hourly county-level power outage exposure for continental US in 2018 and daily cardiorespiratory hospitalizations for 23 million Medicare beneficiaries 65+. </a:t>
            </a:r>
            <a:endParaRPr lang="en-US" sz="4800" b="1" dirty="0">
              <a:solidFill>
                <a:srgbClr val="B2D0F8"/>
              </a:solidFill>
              <a:latin typeface="Aptos" panose="020B0004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059415-8D39-4D7A-2E43-67066279A77F}"/>
              </a:ext>
            </a:extLst>
          </p:cNvPr>
          <p:cNvSpPr txBox="1"/>
          <p:nvPr/>
        </p:nvSpPr>
        <p:spPr>
          <a:xfrm>
            <a:off x="16341278" y="5621280"/>
            <a:ext cx="45902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E4FFE4"/>
                </a:solidFill>
                <a:latin typeface="Franklin Gothic Medium" panose="020B0603020102020204" pitchFamily="34" charset="0"/>
              </a:rPr>
              <a:t>QUESTION</a:t>
            </a:r>
            <a:endParaRPr lang="en-US" sz="3600" b="1" dirty="0">
              <a:solidFill>
                <a:srgbClr val="E4FFE4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271242-FC53-307C-43B9-7A740E039333}"/>
              </a:ext>
            </a:extLst>
          </p:cNvPr>
          <p:cNvSpPr txBox="1"/>
          <p:nvPr/>
        </p:nvSpPr>
        <p:spPr>
          <a:xfrm>
            <a:off x="2245758" y="11625355"/>
            <a:ext cx="37483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E4FFE4"/>
                </a:solidFill>
                <a:latin typeface="Franklin Gothic Medium" panose="020B0603020102020204" pitchFamily="34" charset="0"/>
              </a:rPr>
              <a:t>DATA</a:t>
            </a:r>
            <a:endParaRPr lang="en-US" sz="3600" b="1" dirty="0">
              <a:solidFill>
                <a:srgbClr val="E4FFE4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ound Diagonal Corner Rectangle 19">
            <a:extLst>
              <a:ext uri="{FF2B5EF4-FFF2-40B4-BE49-F238E27FC236}">
                <a16:creationId xmlns:a16="http://schemas.microsoft.com/office/drawing/2014/main" id="{C815A53D-98D0-BBBD-1299-C89753818B21}"/>
              </a:ext>
            </a:extLst>
          </p:cNvPr>
          <p:cNvSpPr/>
          <p:nvPr/>
        </p:nvSpPr>
        <p:spPr>
          <a:xfrm>
            <a:off x="14590472" y="11942376"/>
            <a:ext cx="12012130" cy="9190991"/>
          </a:xfrm>
          <a:prstGeom prst="round2DiagRect">
            <a:avLst/>
          </a:prstGeom>
          <a:solidFill>
            <a:srgbClr val="3A4564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73DDFA-4C55-926C-BD34-166D65C2FA33}"/>
              </a:ext>
            </a:extLst>
          </p:cNvPr>
          <p:cNvSpPr txBox="1"/>
          <p:nvPr/>
        </p:nvSpPr>
        <p:spPr>
          <a:xfrm>
            <a:off x="15443798" y="12940924"/>
            <a:ext cx="10055697" cy="7294305"/>
          </a:xfrm>
          <a:prstGeom prst="rect">
            <a:avLst/>
          </a:prstGeom>
          <a:noFill/>
          <a:ln w="76200">
            <a:solidFill>
              <a:schemeClr val="bg1">
                <a:alpha val="51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Case-crossover study </a:t>
            </a: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using conditional Poisson model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Matched on day of week, month, and county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Estimated association of </a:t>
            </a:r>
            <a:r>
              <a:rPr lang="en-US" sz="36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daily power outage </a:t>
            </a: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</a:t>
            </a:r>
            <a:r>
              <a:rPr lang="en-US" sz="3600" b="1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daily cardiorespiratory hospitalization rates for 2018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Estimated lagged association up to 1 week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Controlled for time-varying confounders of daily temperature, wind speed, and precipitation (GridMET)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E4FFE4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County-level confounders automatically controlled for by design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0CC6B2-5A23-13D8-6026-14239AA009E7}"/>
              </a:ext>
            </a:extLst>
          </p:cNvPr>
          <p:cNvSpPr txBox="1"/>
          <p:nvPr/>
        </p:nvSpPr>
        <p:spPr>
          <a:xfrm>
            <a:off x="15287773" y="11534954"/>
            <a:ext cx="59066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E4FFE4"/>
                </a:solidFill>
                <a:latin typeface="Franklin Gothic Medium" panose="020B0603020102020204" pitchFamily="34" charset="0"/>
              </a:rPr>
              <a:t>METHODS</a:t>
            </a:r>
            <a:endParaRPr lang="en-US" sz="3600" b="1" dirty="0">
              <a:solidFill>
                <a:srgbClr val="E4FFE4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ound Diagonal Corner Rectangle 22">
            <a:extLst>
              <a:ext uri="{FF2B5EF4-FFF2-40B4-BE49-F238E27FC236}">
                <a16:creationId xmlns:a16="http://schemas.microsoft.com/office/drawing/2014/main" id="{E13D2D49-F30E-0652-730F-1BF136E719DA}"/>
              </a:ext>
            </a:extLst>
          </p:cNvPr>
          <p:cNvSpPr/>
          <p:nvPr/>
        </p:nvSpPr>
        <p:spPr>
          <a:xfrm>
            <a:off x="1659160" y="22066523"/>
            <a:ext cx="24943442" cy="9704140"/>
          </a:xfrm>
          <a:prstGeom prst="round2DiagRect">
            <a:avLst/>
          </a:prstGeom>
          <a:solidFill>
            <a:srgbClr val="3A4564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A875C8-92AE-A016-B79B-E48536F5FB04}"/>
              </a:ext>
            </a:extLst>
          </p:cNvPr>
          <p:cNvSpPr txBox="1"/>
          <p:nvPr/>
        </p:nvSpPr>
        <p:spPr>
          <a:xfrm>
            <a:off x="2213603" y="21735753"/>
            <a:ext cx="32542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E4FFE4"/>
                </a:solidFill>
                <a:latin typeface="Franklin Gothic Medium" panose="020B0603020102020204" pitchFamily="34" charset="0"/>
              </a:rPr>
              <a:t>RESULTS</a:t>
            </a:r>
            <a:endParaRPr lang="en-US" sz="3600" b="1" dirty="0">
              <a:solidFill>
                <a:srgbClr val="E4FFE4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72A11A-D6BD-53CB-120A-CC2093625199}"/>
              </a:ext>
            </a:extLst>
          </p:cNvPr>
          <p:cNvSpPr/>
          <p:nvPr/>
        </p:nvSpPr>
        <p:spPr>
          <a:xfrm>
            <a:off x="2541716" y="22972716"/>
            <a:ext cx="14621306" cy="7925009"/>
          </a:xfrm>
          <a:prstGeom prst="rect">
            <a:avLst/>
          </a:prstGeom>
          <a:solidFill>
            <a:srgbClr val="F0FF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Content Placeholder 4">
            <a:extLst>
              <a:ext uri="{FF2B5EF4-FFF2-40B4-BE49-F238E27FC236}">
                <a16:creationId xmlns:a16="http://schemas.microsoft.com/office/drawing/2014/main" id="{3FCBCAB4-0D5A-0A9A-DAB6-982BD571C0C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10476" r="16525"/>
          <a:stretch>
            <a:fillRect/>
          </a:stretch>
        </p:blipFill>
        <p:spPr>
          <a:xfrm>
            <a:off x="2541716" y="23190906"/>
            <a:ext cx="13959434" cy="748551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791E9B6-B63A-F9F6-C4F7-1F69CB09C8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rgbClr val="5B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3954" y="24400049"/>
            <a:ext cx="2799687" cy="15338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F7B285D-1BAC-C53C-2524-25EA0B1776E0}"/>
              </a:ext>
            </a:extLst>
          </p:cNvPr>
          <p:cNvSpPr txBox="1"/>
          <p:nvPr/>
        </p:nvSpPr>
        <p:spPr>
          <a:xfrm>
            <a:off x="17839193" y="23563511"/>
            <a:ext cx="7978210" cy="6740307"/>
          </a:xfrm>
          <a:prstGeom prst="rect">
            <a:avLst/>
          </a:prstGeom>
          <a:noFill/>
          <a:ln w="76200">
            <a:solidFill>
              <a:schemeClr val="bg1">
                <a:alpha val="51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DEFFDD"/>
                </a:solidFill>
                <a:latin typeface="Aptos" panose="020B0004020202020204" pitchFamily="34" charset="0"/>
              </a:rPr>
              <a:t>Rate ratios and 95% confidence intervals for the association between county-level 8+ hour power outage exposure and cardiovascular- and respiratory-related admissions affecting ≥1%, ≥3%, and ≥5% of county electrical customers. </a:t>
            </a:r>
            <a:endParaRPr lang="en-US" sz="4800" dirty="0">
              <a:solidFill>
                <a:srgbClr val="DEFFDD"/>
              </a:solidFill>
              <a:latin typeface="Aptos" panose="020B0004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9" name="Round Diagonal Corner Rectangle 28">
            <a:extLst>
              <a:ext uri="{FF2B5EF4-FFF2-40B4-BE49-F238E27FC236}">
                <a16:creationId xmlns:a16="http://schemas.microsoft.com/office/drawing/2014/main" id="{A532E93C-88CE-FD16-BC2F-0375D26F3F3A}"/>
              </a:ext>
            </a:extLst>
          </p:cNvPr>
          <p:cNvSpPr/>
          <p:nvPr/>
        </p:nvSpPr>
        <p:spPr>
          <a:xfrm>
            <a:off x="1746005" y="32510454"/>
            <a:ext cx="24943442" cy="3200298"/>
          </a:xfrm>
          <a:prstGeom prst="round2DiagRect">
            <a:avLst/>
          </a:prstGeom>
          <a:solidFill>
            <a:srgbClr val="445173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20C2FB-05FF-7CC5-40A8-635F3E418068}"/>
              </a:ext>
            </a:extLst>
          </p:cNvPr>
          <p:cNvSpPr txBox="1"/>
          <p:nvPr/>
        </p:nvSpPr>
        <p:spPr>
          <a:xfrm>
            <a:off x="2121351" y="31819898"/>
            <a:ext cx="47028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E4FFE4"/>
                </a:solidFill>
                <a:latin typeface="Franklin Gothic Medium" panose="020B0603020102020204" pitchFamily="34" charset="0"/>
              </a:rPr>
              <a:t>CONCLUSION</a:t>
            </a:r>
            <a:endParaRPr lang="en-US" sz="3600" b="1" dirty="0">
              <a:solidFill>
                <a:srgbClr val="E4FFE4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1A01AB-8357-928A-BBB0-AA53BE714A72}"/>
              </a:ext>
            </a:extLst>
          </p:cNvPr>
          <p:cNvSpPr txBox="1"/>
          <p:nvPr/>
        </p:nvSpPr>
        <p:spPr>
          <a:xfrm>
            <a:off x="2289853" y="33030040"/>
            <a:ext cx="23638214" cy="2308324"/>
          </a:xfrm>
          <a:prstGeom prst="rect">
            <a:avLst/>
          </a:prstGeom>
          <a:noFill/>
          <a:ln w="76200">
            <a:solidFill>
              <a:schemeClr val="bg1">
                <a:alpha val="51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B2D0F8"/>
                </a:solidFill>
                <a:latin typeface="Aptos" panose="020B00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Results support community knowledge that power outages are dangerous for vulnerable populations. Health effects of power outage should be taken into consideration during public safety shutoffs and grid planning.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055DAC7-D184-C3CE-9172-C7D448B89C8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4" t="9276" r="28310" b="11962"/>
          <a:stretch>
            <a:fillRect/>
          </a:stretch>
        </p:blipFill>
        <p:spPr>
          <a:xfrm>
            <a:off x="7411820" y="36495393"/>
            <a:ext cx="1210720" cy="1191019"/>
          </a:xfrm>
          <a:prstGeom prst="ellipse">
            <a:avLst/>
          </a:prstGeom>
          <a:ln w="38100">
            <a:noFill/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1C46643-A0EF-682F-28F0-0D9DACA3D3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9882" y="36464542"/>
            <a:ext cx="5715000" cy="10668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7D92D0E-03F0-A6FA-BDD2-D2AB631C1E8A}"/>
              </a:ext>
            </a:extLst>
          </p:cNvPr>
          <p:cNvSpPr txBox="1"/>
          <p:nvPr/>
        </p:nvSpPr>
        <p:spPr>
          <a:xfrm>
            <a:off x="9413059" y="36149719"/>
            <a:ext cx="167876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This work was supported by: National Institute on Aging grant R01 AG071024 (JAC) 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National Institute of Environmental Health Sciences P30 ES007033 (JAC)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National Institutes of Health R01 ES034021 (DM)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National Institutes of Health R01 AG066793 (DM)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National Institute on Aging P20 AG093975 (MAK)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National Institute of Environmental Health Sciences P30 ES009089 (MAK)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Canadian Institutes of Health Research Doctoral Foreign Study Award (HM)</a:t>
            </a:r>
            <a:r>
              <a:rPr lang="en-CA" sz="2400" dirty="0">
                <a:solidFill>
                  <a:srgbClr val="DEFFDD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rgbClr val="DEFFDD"/>
                </a:solidFill>
                <a:latin typeface="Aptos" panose="020B0004020202020204" pitchFamily="34" charset="0"/>
              </a:rPr>
              <a:t>National Heart, Lung, and Blood Institute F31 HL172608 (VD).</a:t>
            </a:r>
            <a:endParaRPr lang="en-CA" sz="2400" dirty="0">
              <a:solidFill>
                <a:srgbClr val="DEFFDD"/>
              </a:solidFill>
              <a:latin typeface="Aptos" panose="020B0004020202020204" pitchFamily="34" charset="0"/>
            </a:endParaRPr>
          </a:p>
          <a:p>
            <a:endParaRPr lang="en-US" sz="2400" dirty="0">
              <a:solidFill>
                <a:srgbClr val="DEFFDD"/>
              </a:solidFill>
              <a:latin typeface="Aptos" panose="020B000402020202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9691A1C-3004-3AD5-B3EE-2C40B6578EFB}"/>
              </a:ext>
            </a:extLst>
          </p:cNvPr>
          <p:cNvSpPr/>
          <p:nvPr/>
        </p:nvSpPr>
        <p:spPr>
          <a:xfrm>
            <a:off x="7420070" y="13563669"/>
            <a:ext cx="6922482" cy="61075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39D6CD8-41E0-7259-31B1-99B313FF1F0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" t="-9273" r="-7947" b="-8029"/>
          <a:stretch>
            <a:fillRect/>
          </a:stretch>
        </p:blipFill>
        <p:spPr>
          <a:xfrm>
            <a:off x="7919349" y="14396234"/>
            <a:ext cx="6120291" cy="4777574"/>
          </a:xfrm>
          <a:prstGeom prst="ellipse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F9482FD-C2E7-73ED-6769-431683CB31D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5" t="82" r="11538" b="91529"/>
          <a:stretch>
            <a:fillRect/>
          </a:stretch>
        </p:blipFill>
        <p:spPr>
          <a:xfrm>
            <a:off x="8770242" y="14751580"/>
            <a:ext cx="4409253" cy="425871"/>
          </a:xfrm>
          <a:prstGeom prst="rect">
            <a:avLst/>
          </a:prstGeom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8F0B38C7-CAE6-89D1-E9DC-2DB0C729FF5B}"/>
              </a:ext>
            </a:extLst>
          </p:cNvPr>
          <p:cNvSpPr/>
          <p:nvPr/>
        </p:nvSpPr>
        <p:spPr>
          <a:xfrm>
            <a:off x="7409407" y="13659580"/>
            <a:ext cx="6931284" cy="6107592"/>
          </a:xfrm>
          <a:prstGeom prst="ellipse">
            <a:avLst/>
          </a:prstGeom>
          <a:solidFill>
            <a:srgbClr val="BBDAC2">
              <a:alpha val="1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4C1555-2E84-1093-BBC1-DE26AB8E0052}"/>
              </a:ext>
            </a:extLst>
          </p:cNvPr>
          <p:cNvSpPr txBox="1"/>
          <p:nvPr/>
        </p:nvSpPr>
        <p:spPr>
          <a:xfrm>
            <a:off x="8616326" y="14191926"/>
            <a:ext cx="4822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677BB1"/>
                </a:solidFill>
                <a:latin typeface="Franklin Gothic Medium" panose="020B0603020102020204" pitchFamily="34" charset="0"/>
              </a:rPr>
              <a:t>Number of county-level 8+ hour power outages in 2018 according to the </a:t>
            </a:r>
            <a:r>
              <a:rPr lang="en-US" sz="1600" dirty="0" err="1">
                <a:solidFill>
                  <a:srgbClr val="677BB1"/>
                </a:solidFill>
                <a:latin typeface="Franklin Gothic Medium" panose="020B0603020102020204" pitchFamily="34" charset="0"/>
              </a:rPr>
              <a:t>PowerOutages.us</a:t>
            </a:r>
            <a:r>
              <a:rPr lang="en-US" sz="1600" dirty="0">
                <a:solidFill>
                  <a:srgbClr val="677BB1"/>
                </a:solidFill>
                <a:latin typeface="Franklin Gothic Medium" panose="020B0603020102020204" pitchFamily="34" charset="0"/>
              </a:rPr>
              <a:t> dataset.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669832E-B47E-EB9B-32A8-89F253C99CA2}"/>
              </a:ext>
            </a:extLst>
          </p:cNvPr>
          <p:cNvCxnSpPr>
            <a:cxnSpLocks/>
          </p:cNvCxnSpPr>
          <p:nvPr/>
        </p:nvCxnSpPr>
        <p:spPr>
          <a:xfrm>
            <a:off x="1020460" y="7555586"/>
            <a:ext cx="0" cy="26691848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5143E5F-7F5E-00FE-91EF-0A77A256D00B}"/>
              </a:ext>
            </a:extLst>
          </p:cNvPr>
          <p:cNvCxnSpPr>
            <a:cxnSpLocks/>
          </p:cNvCxnSpPr>
          <p:nvPr/>
        </p:nvCxnSpPr>
        <p:spPr>
          <a:xfrm flipH="1">
            <a:off x="1020460" y="7552558"/>
            <a:ext cx="467594" cy="0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39DBA6D-F18D-F83A-9101-80926231D607}"/>
              </a:ext>
            </a:extLst>
          </p:cNvPr>
          <p:cNvCxnSpPr>
            <a:cxnSpLocks/>
          </p:cNvCxnSpPr>
          <p:nvPr/>
        </p:nvCxnSpPr>
        <p:spPr>
          <a:xfrm flipH="1">
            <a:off x="15424810" y="7440745"/>
            <a:ext cx="916468" cy="0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3E3323E-E9BD-C1B3-419F-E17C43A16CB2}"/>
              </a:ext>
            </a:extLst>
          </p:cNvPr>
          <p:cNvCxnSpPr>
            <a:cxnSpLocks/>
          </p:cNvCxnSpPr>
          <p:nvPr/>
        </p:nvCxnSpPr>
        <p:spPr>
          <a:xfrm flipH="1">
            <a:off x="14014121" y="13406116"/>
            <a:ext cx="690575" cy="0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E709E97-AC3E-6C6E-471C-EA34C6358E26}"/>
              </a:ext>
            </a:extLst>
          </p:cNvPr>
          <p:cNvCxnSpPr>
            <a:cxnSpLocks/>
          </p:cNvCxnSpPr>
          <p:nvPr/>
        </p:nvCxnSpPr>
        <p:spPr>
          <a:xfrm flipH="1">
            <a:off x="1009061" y="23895220"/>
            <a:ext cx="506879" cy="0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CD21986-6C0D-49F0-2FE9-A008FF685BF0}"/>
              </a:ext>
            </a:extLst>
          </p:cNvPr>
          <p:cNvCxnSpPr>
            <a:cxnSpLocks/>
          </p:cNvCxnSpPr>
          <p:nvPr/>
        </p:nvCxnSpPr>
        <p:spPr>
          <a:xfrm flipH="1">
            <a:off x="1093346" y="13469653"/>
            <a:ext cx="467594" cy="0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F3D40BF-B2C9-0635-4439-26101A1EB6B5}"/>
              </a:ext>
            </a:extLst>
          </p:cNvPr>
          <p:cNvCxnSpPr>
            <a:cxnSpLocks/>
          </p:cNvCxnSpPr>
          <p:nvPr/>
        </p:nvCxnSpPr>
        <p:spPr>
          <a:xfrm flipH="1">
            <a:off x="1002433" y="34265044"/>
            <a:ext cx="506879" cy="0"/>
          </a:xfrm>
          <a:prstGeom prst="line">
            <a:avLst/>
          </a:prstGeom>
          <a:ln w="762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0C49729A-B571-41B8-71B6-BEABBE4443A4}"/>
              </a:ext>
            </a:extLst>
          </p:cNvPr>
          <p:cNvSpPr txBox="1"/>
          <p:nvPr/>
        </p:nvSpPr>
        <p:spPr>
          <a:xfrm>
            <a:off x="409204" y="227285"/>
            <a:ext cx="18647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Franklin Gothic Medium" panose="020B0603020102020204" pitchFamily="34" charset="0"/>
              </a:rPr>
              <a:t>P29-24</a:t>
            </a:r>
            <a:endParaRPr lang="en-US" b="1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882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</TotalTime>
  <Words>382</Words>
  <Application>Microsoft Macintosh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Franklin Gothic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Heather M</dc:creator>
  <cp:lastModifiedBy>Heather M</cp:lastModifiedBy>
  <cp:revision>17</cp:revision>
  <dcterms:created xsi:type="dcterms:W3CDTF">2025-08-03T15:40:11Z</dcterms:created>
  <dcterms:modified xsi:type="dcterms:W3CDTF">2025-08-03T17:10:28Z</dcterms:modified>
</cp:coreProperties>
</file>